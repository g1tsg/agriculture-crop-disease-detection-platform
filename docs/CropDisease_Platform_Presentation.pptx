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0916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40916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NIT Kurukshetra  |  Dept. of Mathematics &amp; Computing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914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F3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Agriculture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Disease Detection Platform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Diagnosis Using EfficientNet-B4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524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Gitansh Goel  •  Manik Chauhan  •  Ragav Gupta  •  Harsha Vardhan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Paper  |  PlantVillage Dataset  |  99.54% Test 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931920"/>
            <a:ext cx="1874520" cy="1005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65760" y="44988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14600" y="3931920"/>
            <a:ext cx="1874520" cy="1005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1460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54,000+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2514600" y="44988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931920"/>
            <a:ext cx="1874520" cy="1005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99.54%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663440" y="44988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12280" y="3931920"/>
            <a:ext cx="1874520" cy="1005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81228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12280" y="44988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2354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agricultural crisis driven by crop diseases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686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2354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075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PlantVillage, 15-class subset, augmentation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024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0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19751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EfficientNet-B4, MBConv, SE modules, compound scaling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2024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920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19751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3591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transfer learning, callbacks, hyperparameters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718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02666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41071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React/Vite frontend, MongoDB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7180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9718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02666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41071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 accuracy, precision, recall, F1 analysis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2336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233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" y="407822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4622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vs VGG-16, ResNet-50, MobileNetV2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402336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4023360"/>
            <a:ext cx="50292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233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03520" y="407822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4622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Compression, IoT, multilingual, geo-intelligence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2743200" cy="22860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20–40%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743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crop yield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due to disease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220B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4C69D"/>
                </a:solidFill>
              </a:rPr>
              <a:t>annual cost to world agriculture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83280" y="86868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868680"/>
            <a:ext cx="54864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960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Inaccessible Expertise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069080" y="13441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field inspection is slow, costly &amp; unavailable to smallholder farmers in rural areas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383280" y="1984248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83280" y="1984248"/>
            <a:ext cx="54864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2585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69080" y="2075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069080" y="24597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visible symptoms appear, significant crop damage has already occurred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83280" y="3099816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83280" y="3099816"/>
            <a:ext cx="54864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374136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69080" y="31912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of the Problem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069080" y="3575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supports 40%+ of the global workforce — disease losses affect food security globally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0740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4297680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Deep learning (EfficientNet-B4) enables real-time, automated disease detection from leaf images — bringing expert-level diagnosis to every farmer's smartphone.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PlantVillage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54,000+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RGB Images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33172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33172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 (Full)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Selected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31720" y="19659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9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380×380px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3172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89120" y="822960"/>
            <a:ext cx="44805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15-Class Subset Breakdown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26280" y="14081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9240" y="1444752"/>
            <a:ext cx="2926080" cy="228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48472" y="1408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26280" y="1847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49240" y="1883664"/>
            <a:ext cx="877824" cy="22860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26280" y="2286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49240" y="2322576"/>
            <a:ext cx="585216" cy="2286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07608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26280" y="24871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healthy &amp; diseased classes for balanced training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74320" y="3337560"/>
            <a:ext cx="1554480" cy="777240"/>
          </a:xfrm>
          <a:prstGeom prst="rect">
            <a:avLst/>
          </a:prstGeom>
          <a:solidFill>
            <a:srgbClr val="F484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7432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Removal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828800" y="3657600"/>
            <a:ext cx="182880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11680" y="3337560"/>
            <a:ext cx="1554480" cy="777240"/>
          </a:xfrm>
          <a:prstGeom prst="rect">
            <a:avLst/>
          </a:prstGeom>
          <a:solidFill>
            <a:srgbClr val="F6C90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01168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(Perceptual Hash)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566160" y="3657600"/>
            <a:ext cx="182880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749040" y="3337560"/>
            <a:ext cx="1554480" cy="77724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74904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380×380px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303520" y="3657600"/>
            <a:ext cx="182880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0" y="3337560"/>
            <a:ext cx="1554480" cy="7772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48640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70/15/15%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040880" y="3657600"/>
            <a:ext cx="182880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23760" y="3337560"/>
            <a:ext cx="1554480" cy="7772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22376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Horizontal/Vertical Flip  •  ±15° Rotation  •  ±10% Zoom  •  Brightness Jitter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verified using Pillow integrity checks — ensuring clean, high-quality training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2A"/>
          </a:solidFill>
          <a:ln w="12700">
            <a:solidFill>
              <a:srgbClr val="1C2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— EfficientNet-B4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34747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347472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EfficientNet-B4 Key Facts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Coefficient: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83080" y="1316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4 (scales depth, width &amp; resolution uniformly)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8308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19M (vs 138M for VGG-16)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830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× 380 × 3 px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Blocks: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8308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MBConv (Mobile Inverted Bottleneck Convolution)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1480" y="2706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78308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Squeeze-and-Excitation (SE) modules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8308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 → transfer learning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31920" y="822960"/>
            <a:ext cx="4937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31920" y="822960"/>
            <a:ext cx="4937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0" y="822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Head Architecture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069080" y="1325880"/>
            <a:ext cx="1463040" cy="274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6908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23560" y="1362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 380×380×3 (RGB leaf image)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617720" y="1600200"/>
            <a:ext cx="73152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69080" y="1673352"/>
            <a:ext cx="146304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6908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23560" y="1709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 — MBConv blocks with SE modules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17720" y="1947672"/>
            <a:ext cx="73152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69080" y="2020824"/>
            <a:ext cx="14630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69080" y="2020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23560" y="2057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 aggregation → 1×1×F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17720" y="2295144"/>
            <a:ext cx="73152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69080" y="2368296"/>
            <a:ext cx="1463040" cy="2743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69080" y="2368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(0.30)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623560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to prevent overfitting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617720" y="2642616"/>
            <a:ext cx="73152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69080" y="2715768"/>
            <a:ext cx="1463040" cy="274320"/>
          </a:xfrm>
          <a:prstGeom prst="rect">
            <a:avLst/>
          </a:prstGeom>
          <a:solidFill>
            <a:srgbClr val="1C2B2A"/>
          </a:solidFill>
          <a:ln w="12700">
            <a:solidFill>
              <a:srgbClr val="1C2B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69080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(15)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623560" y="2752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output layer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617720" y="2990088"/>
            <a:ext cx="73152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069080" y="3063240"/>
            <a:ext cx="146304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0690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23560" y="3099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∈ ℝ¹⁵  —  class probability vector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274320" y="3749040"/>
            <a:ext cx="8595360" cy="123444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MBConv + SE Module — The Core Building Block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57200" y="4187952"/>
            <a:ext cx="1508760" cy="658368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457200" y="418795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(1×1 Conv)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965960" y="4480560"/>
            <a:ext cx="18288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148840" y="4187952"/>
            <a:ext cx="1508760" cy="65836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2148840" y="418795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(3×3/5×5)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657600" y="4480560"/>
            <a:ext cx="18288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40480" y="4187952"/>
            <a:ext cx="1508760" cy="65836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3840480" y="418795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Pool)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349240" y="4480560"/>
            <a:ext cx="18288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532120" y="4187952"/>
            <a:ext cx="1508760" cy="65836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5532120" y="418795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(FC+Sigmoid)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040880" y="4480560"/>
            <a:ext cx="18288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223760" y="4187952"/>
            <a:ext cx="1508760" cy="658368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7223760" y="418795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(1×1 Conv)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Strategy — Two-Phase Transfer Learning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22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Frozen Backbone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91640" y="13898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(ImageNet weights)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91640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only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91640" y="19019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1579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91640" y="215798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10⁻³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91640" y="24140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 of new head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822960"/>
            <a:ext cx="416052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822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Full Fine-Tuning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26480" y="13898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 (all layers trainable)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4632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26480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end-to-end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26480" y="19019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21579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26480" y="215798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10⁻⁵ (very low)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26480" y="24140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features for crop leaves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2880360"/>
            <a:ext cx="8595360" cy="347472"/>
          </a:xfrm>
          <a:prstGeom prst="rect">
            <a:avLst/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Configuration (TABLE I)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74320" y="3291840"/>
            <a:ext cx="128016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554480" y="3291840"/>
            <a:ext cx="91440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00200" y="3291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468880" y="3291840"/>
            <a:ext cx="100584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146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Epochs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474720" y="3291840"/>
            <a:ext cx="82296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20440" y="3291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297680" y="3291840"/>
            <a:ext cx="137160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4340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69280" y="3291840"/>
            <a:ext cx="82296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0" y="3291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492240" y="3291840"/>
            <a:ext cx="1828800" cy="384048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3796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4320" y="36758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380×380×3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1554480" y="36758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600200" y="3675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2468880" y="367588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14600" y="3675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(15+15)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474720" y="36758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520440" y="3675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297680" y="36758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343400" y="36758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Cross-Entropy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669280" y="36758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15000" y="3675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492240" y="367588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37960" y="3675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 / Keras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Callbacks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274320" y="4544568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274320" y="4544568"/>
            <a:ext cx="54864" cy="5029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1148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11480" y="4800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5 epochs on val_accuracy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154680" y="4544568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3154680" y="4544568"/>
            <a:ext cx="54864" cy="5029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9184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3291840" y="4800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best weights by validation accuracy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6035040" y="4544568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6035040" y="4544568"/>
            <a:ext cx="54864" cy="5029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17220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6172200" y="4800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= 0.5, Patience = 3 epochs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2A"/>
          </a:solidFill>
          <a:ln w="12700">
            <a:solidFill>
              <a:srgbClr val="1C2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End-to-End Platform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804672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804672"/>
            <a:ext cx="27889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89611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822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7240" y="1115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image upload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5760" y="18379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support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21762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results page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576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 + confidence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576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indicator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5760" y="3191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causes &amp; treatment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017520" y="2514600"/>
            <a:ext cx="13716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54680" y="804672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54680" y="804672"/>
            <a:ext cx="278892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89611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03320" y="822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703320" y="1115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9184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endpoint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291840" y="18379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image intake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291840" y="21762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decode → RGB → resize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29184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→ batch expand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29184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inference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291840" y="3191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JSON response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943600" y="2514600"/>
            <a:ext cx="13716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080760" y="804672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080760" y="804672"/>
            <a:ext cx="27889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896112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29400" y="822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Model Layer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629400" y="1115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TF SavedModel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21792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JSON metadata store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217920" y="18379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info: symptoms, causes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217920" y="21762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steps &amp; fungicides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21792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saved weights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21792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 serving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217920" y="3191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output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228600" y="4572000"/>
            <a:ext cx="868680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663440"/>
            <a:ext cx="292608" cy="2926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85800" y="45720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Farmer uploads leaf image → FastAPI preprocesses &amp; infers → EfficientNet-B4 predicts → MongoDB enriches with metadata → Structured JSON returned → React renders actionable guidance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Model Evaluation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1993392" cy="11430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841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4813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50592" y="804672"/>
            <a:ext cx="1993392" cy="11430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50592" y="841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450592" y="14813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26864" y="804672"/>
            <a:ext cx="1993392" cy="11430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841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99.54%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26864" y="14813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03136" y="804672"/>
            <a:ext cx="1993392" cy="114300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03136" y="841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803136" y="14813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057400"/>
            <a:ext cx="8595360" cy="384048"/>
          </a:xfrm>
          <a:prstGeom prst="rect">
            <a:avLst/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057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II: Performance Across Data Splits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2487168"/>
            <a:ext cx="2011680" cy="347472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0" y="2487168"/>
            <a:ext cx="2194560" cy="347472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3172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80560" y="2487168"/>
            <a:ext cx="2194560" cy="347472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75120" y="2487168"/>
            <a:ext cx="2194560" cy="347472"/>
          </a:xfrm>
          <a:prstGeom prst="rect">
            <a:avLst/>
          </a:prstGeom>
          <a:solidFill>
            <a:srgbClr val="40916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084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2834640"/>
            <a:ext cx="201168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86000" y="2834640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3172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99.81%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480560" y="2834640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2628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75120" y="2834640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2084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318211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86000" y="318211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331720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99.82%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480560" y="318211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26280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675120" y="318211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20840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74320" y="3529584"/>
            <a:ext cx="201168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0040" y="3529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286000" y="3529584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331720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99.80%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480560" y="3529584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26280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675120" y="3529584"/>
            <a:ext cx="2194560" cy="347472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20840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74320" y="387705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0040" y="3877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286000" y="3877056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331720" y="38770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99.81%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480560" y="3877056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526280" y="38770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675120" y="3877056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20840" y="38770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274320" y="4270248"/>
            <a:ext cx="8595360" cy="749808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407408"/>
            <a:ext cx="384048" cy="384048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886968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886968" y="459943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gap between train (99.81%) and test accuracy (99.54%) confirms strong generalization without overfitting. Balanced precision &amp; recall across all 15 classes indicates unbiased classification — no class dominance issues.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 — CNN Architectures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E8F0EE"/>
          </a:solidFill>
          <a:ln w="12700">
            <a:solidFill>
              <a:srgbClr val="E8F0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III: Architecture Comparison on PlantVillage Dataset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07008"/>
            <a:ext cx="182880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03120" y="1207008"/>
            <a:ext cx="118872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8840" y="1207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1207008"/>
            <a:ext cx="118872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207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(M)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80560" y="1207008"/>
            <a:ext cx="91440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12070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0" y="1207008"/>
            <a:ext cx="374904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1591056"/>
            <a:ext cx="182880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5910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103120" y="1591056"/>
            <a:ext cx="118872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48840" y="1591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91840" y="1591056"/>
            <a:ext cx="118872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1591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80560" y="1591056"/>
            <a:ext cx="91440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15910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224²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94960" y="1591056"/>
            <a:ext cx="374904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15910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baseline, very heavy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197510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19751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03120" y="197510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48840" y="1975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98.60%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91840" y="197510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37560" y="1975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80560" y="197510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26280" y="19751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224²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94960" y="1975104"/>
            <a:ext cx="3749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40680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accuracy, skip connections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2359152"/>
            <a:ext cx="182880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23591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103120" y="2359152"/>
            <a:ext cx="118872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48840" y="2359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291840" y="2359152"/>
            <a:ext cx="118872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37560" y="2359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480560" y="2359152"/>
            <a:ext cx="91440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26280" y="23591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224²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394960" y="2359152"/>
            <a:ext cx="3749040" cy="384048"/>
          </a:xfrm>
          <a:prstGeom prst="rect">
            <a:avLst/>
          </a:prstGeom>
          <a:solidFill>
            <a:srgbClr val="F0F7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2359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lower accuracy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74320" y="274320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103120" y="27432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743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99.20%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291840" y="27432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337560" y="2743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480560" y="274320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26280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224²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394960" y="2743200"/>
            <a:ext cx="3749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4068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baseline of family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74320" y="3127248"/>
            <a:ext cx="1828800" cy="384048"/>
          </a:xfrm>
          <a:prstGeom prst="rect">
            <a:avLst/>
          </a:prstGeom>
          <a:solidFill>
            <a:srgbClr val="1B433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3127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(Ours)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103120" y="3127248"/>
            <a:ext cx="1188720" cy="384048"/>
          </a:xfrm>
          <a:prstGeom prst="rect">
            <a:avLst/>
          </a:prstGeom>
          <a:solidFill>
            <a:srgbClr val="1B433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148840" y="31272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3291840" y="3127248"/>
            <a:ext cx="1188720" cy="384048"/>
          </a:xfrm>
          <a:prstGeom prst="rect">
            <a:avLst/>
          </a:prstGeom>
          <a:solidFill>
            <a:srgbClr val="1B433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337560" y="31272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19.0M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480560" y="3127248"/>
            <a:ext cx="914400" cy="384048"/>
          </a:xfrm>
          <a:prstGeom prst="rect">
            <a:avLst/>
          </a:prstGeom>
          <a:solidFill>
            <a:srgbClr val="1B433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526280" y="31272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380²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5394960" y="3127248"/>
            <a:ext cx="3749040" cy="384048"/>
          </a:xfrm>
          <a:prstGeom prst="rect">
            <a:avLst/>
          </a:prstGeom>
          <a:solidFill>
            <a:srgbClr val="1B433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40680" y="3127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compound scaling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74320" y="3675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Comparison (Visual)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274320" y="4041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1572768" y="4069080"/>
            <a:ext cx="1414272" cy="15544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060192" y="4041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97.80%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274320" y="42519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572768" y="4279392"/>
            <a:ext cx="2828544" cy="1554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474464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98.60%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274320" y="4462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1572768" y="4489704"/>
            <a:ext cx="1979981" cy="15544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625901" y="4462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98.12%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274320" y="4672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EffB0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572768" y="4700016"/>
            <a:ext cx="3889248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535168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99.20%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274320" y="48828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EffB4 (Ours)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572768" y="4910328"/>
            <a:ext cx="4490314" cy="1554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136234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99.54%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6949440" y="3657600"/>
            <a:ext cx="1920240" cy="14173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694944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69494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99.54%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86" name="Text 83"/>
          <p:cNvSpPr/>
          <p:nvPr/>
        </p:nvSpPr>
        <p:spPr>
          <a:xfrm>
            <a:off x="694944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19M params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138M VGG)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 &amp; Research Extensions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4160520" cy="47548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869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905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Expanded Crop Coverage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1371600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 to maize, wheat, and rice — broadening applicability to cover major global staple crops and reduce blind spots in detection coverage.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0916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822960"/>
            <a:ext cx="41605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905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Inference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46320" y="1371600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compression via quantization &amp; pruning to enable real-time inference on low-cost Android smartphones — eliminating internet dependency for rural farmers.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4320" y="27432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" y="2743200"/>
            <a:ext cx="416052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0720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2825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Disease Monitoring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3291840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sequential leaf image analysis to monitor disease progression over time and evaluate treatment efficacy — enabling adaptive intervention strategies.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09160" y="27432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2743200"/>
            <a:ext cx="41605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80720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2825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Geo-Spatial &amp; IoT Integration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846320" y="3291840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predictions with IoT sensors (soil moisture, temperature, humidity) and geospatial data for proactive field-level disease surveillance and early warning.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C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real-time, multilingual, geo-intelligent crop health advisory system accessible to every farmer worldwide.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097280"/>
            <a:ext cx="54864" cy="8046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170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99.54% Test Accuracy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14904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achieves state-of-the-art performance on 15 crop disease classes — surpassing VGG, ResNet, and MobileNet benchmarks.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011680"/>
            <a:ext cx="8412480" cy="804672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011680"/>
            <a:ext cx="54864" cy="8046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0848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Deployment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24048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platform combining FastAPI inference server with React/Vite frontend for real-time actionable advisory.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2926080"/>
            <a:ext cx="54864" cy="8046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9992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Enrichment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60120" y="33192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bare classification — delivers structured disease metadata (symptoms, causes, treatment, fungicides) via REST API.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2D6A4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5760" y="3840480"/>
            <a:ext cx="54864" cy="8046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39136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Generalization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60120" y="4233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accuracy gap of only 0.27% with balanced precision &amp; recall — confirming robust, unbiased learning.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Dept. of Mathematics &amp; Computing  |  IEEE Conference Submission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Agriculture Crop Disease Detection Platform</dc:title>
  <dc:subject>PptxGenJS Presentation</dc:subject>
  <dc:creator>Gitansh Goel, Manik Chauhan, Ragav Gupta, Harsha Vardhan</dc:creator>
  <cp:lastModifiedBy>Gitansh Goel, Manik Chauhan, Ragav Gupta, Harsha Vardhan</cp:lastModifiedBy>
  <cp:revision>1</cp:revision>
  <dcterms:created xsi:type="dcterms:W3CDTF">2026-05-18T06:04:05Z</dcterms:created>
  <dcterms:modified xsi:type="dcterms:W3CDTF">2026-05-18T06:04:05Z</dcterms:modified>
</cp:coreProperties>
</file>